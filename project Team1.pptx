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Yeseva One" charset="1" panose="00000500000000000000"/>
      <p:regular r:id="rId27"/>
    </p:embeddedFont>
    <p:embeddedFont>
      <p:font typeface="Black Han Sans" charset="1" panose="00000000000000000000"/>
      <p:regular r:id="rId28"/>
    </p:embeddedFont>
    <p:embeddedFont>
      <p:font typeface="Moul" charset="1" panose="02000500000000000000"/>
      <p:regular r:id="rId29"/>
    </p:embeddedFont>
    <p:embeddedFont>
      <p:font typeface="Poppins Bold" charset="1" panose="00000800000000000000"/>
      <p:regular r:id="rId30"/>
    </p:embeddedFont>
    <p:embeddedFont>
      <p:font typeface="Canva San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kaggle.com/datasets/likithagedipudi/starbucks-customer-ordering-patterns" TargetMode="External" Type="http://schemas.openxmlformats.org/officeDocument/2006/relationships/hyperlink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27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9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../media/image5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https://github.com/priyanitinnair/Data-201-Group-Project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2334" y="1363508"/>
            <a:ext cx="6674688" cy="7894792"/>
          </a:xfrm>
          <a:custGeom>
            <a:avLst/>
            <a:gdLst/>
            <a:ahLst/>
            <a:cxnLst/>
            <a:rect r="r" b="b" t="t" l="l"/>
            <a:pathLst>
              <a:path h="7894792" w="6674688">
                <a:moveTo>
                  <a:pt x="0" y="0"/>
                </a:moveTo>
                <a:lnTo>
                  <a:pt x="6674689" y="0"/>
                </a:lnTo>
                <a:lnTo>
                  <a:pt x="6674689" y="7894792"/>
                </a:lnTo>
                <a:lnTo>
                  <a:pt x="0" y="7894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661691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10297"/>
            <a:ext cx="8577278" cy="226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9"/>
              </a:lnSpc>
            </a:pPr>
            <a:r>
              <a:rPr lang="en-US" sz="8009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Welcome to Starbucks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54251"/>
            <a:ext cx="7385346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Welcome to Starbucks, your ultimate destination for exceptional coffee experiences. At Starbucks, we believe in crafting moments of joy and connection through every cup of coffee we serve.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4747" y="7625476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Next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1556">
            <a:off x="-500759" y="1460579"/>
            <a:ext cx="19335760" cy="1465716"/>
            <a:chOff x="0" y="0"/>
            <a:chExt cx="5092546" cy="38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92546" cy="386032"/>
            </a:xfrm>
            <a:custGeom>
              <a:avLst/>
              <a:gdLst/>
              <a:ahLst/>
              <a:cxnLst/>
              <a:rect r="r" b="b" t="t" l="l"/>
              <a:pathLst>
                <a:path h="386032" w="5092546">
                  <a:moveTo>
                    <a:pt x="0" y="0"/>
                  </a:moveTo>
                  <a:lnTo>
                    <a:pt x="5092546" y="0"/>
                  </a:lnTo>
                  <a:lnTo>
                    <a:pt x="5092546" y="386032"/>
                  </a:lnTo>
                  <a:lnTo>
                    <a:pt x="0" y="386032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92546" cy="424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367" y="5157489"/>
            <a:ext cx="3892357" cy="3573711"/>
            <a:chOff x="0" y="0"/>
            <a:chExt cx="1025147" cy="9412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367" y="7675564"/>
            <a:ext cx="3892357" cy="677535"/>
            <a:chOff x="0" y="0"/>
            <a:chExt cx="1025147" cy="1784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81751" y="5157489"/>
            <a:ext cx="3892357" cy="3573711"/>
            <a:chOff x="0" y="0"/>
            <a:chExt cx="1025147" cy="9412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81751" y="7675564"/>
            <a:ext cx="3892357" cy="677535"/>
            <a:chOff x="0" y="0"/>
            <a:chExt cx="1025147" cy="1784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60135" y="5157489"/>
            <a:ext cx="3892357" cy="3573711"/>
            <a:chOff x="0" y="0"/>
            <a:chExt cx="1025147" cy="9412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60135" y="7675564"/>
            <a:ext cx="3892357" cy="677535"/>
            <a:chOff x="0" y="0"/>
            <a:chExt cx="1025147" cy="1784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43017" y="5157489"/>
            <a:ext cx="3892357" cy="3573711"/>
            <a:chOff x="0" y="0"/>
            <a:chExt cx="1025147" cy="9412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5148" cy="941224"/>
            </a:xfrm>
            <a:custGeom>
              <a:avLst/>
              <a:gdLst/>
              <a:ahLst/>
              <a:cxnLst/>
              <a:rect r="r" b="b" t="t" l="l"/>
              <a:pathLst>
                <a:path h="941224" w="1025148">
                  <a:moveTo>
                    <a:pt x="19890" y="0"/>
                  </a:moveTo>
                  <a:lnTo>
                    <a:pt x="1005257" y="0"/>
                  </a:lnTo>
                  <a:cubicBezTo>
                    <a:pt x="1010533" y="0"/>
                    <a:pt x="1015592" y="2096"/>
                    <a:pt x="1019322" y="5826"/>
                  </a:cubicBezTo>
                  <a:cubicBezTo>
                    <a:pt x="1023052" y="9556"/>
                    <a:pt x="1025148" y="14615"/>
                    <a:pt x="1025148" y="19890"/>
                  </a:cubicBezTo>
                  <a:lnTo>
                    <a:pt x="1025148" y="921334"/>
                  </a:lnTo>
                  <a:cubicBezTo>
                    <a:pt x="1025148" y="926609"/>
                    <a:pt x="1023052" y="931669"/>
                    <a:pt x="1019322" y="935399"/>
                  </a:cubicBezTo>
                  <a:cubicBezTo>
                    <a:pt x="1015592" y="939129"/>
                    <a:pt x="1010533" y="941224"/>
                    <a:pt x="1005257" y="941224"/>
                  </a:cubicBezTo>
                  <a:lnTo>
                    <a:pt x="19890" y="941224"/>
                  </a:lnTo>
                  <a:cubicBezTo>
                    <a:pt x="14615" y="941224"/>
                    <a:pt x="9556" y="939129"/>
                    <a:pt x="5826" y="935399"/>
                  </a:cubicBezTo>
                  <a:cubicBezTo>
                    <a:pt x="2096" y="931669"/>
                    <a:pt x="0" y="926609"/>
                    <a:pt x="0" y="921334"/>
                  </a:cubicBezTo>
                  <a:lnTo>
                    <a:pt x="0" y="19890"/>
                  </a:lnTo>
                  <a:cubicBezTo>
                    <a:pt x="0" y="14615"/>
                    <a:pt x="2096" y="9556"/>
                    <a:pt x="5826" y="5826"/>
                  </a:cubicBezTo>
                  <a:cubicBezTo>
                    <a:pt x="9556" y="2096"/>
                    <a:pt x="14615" y="0"/>
                    <a:pt x="19890" y="0"/>
                  </a:cubicBezTo>
                  <a:close/>
                </a:path>
              </a:pathLst>
            </a:custGeom>
            <a:solidFill>
              <a:srgbClr val="EBEC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25147" cy="979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43017" y="7675564"/>
            <a:ext cx="3892357" cy="677535"/>
            <a:chOff x="0" y="0"/>
            <a:chExt cx="1025147" cy="1784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5148" cy="178445"/>
            </a:xfrm>
            <a:custGeom>
              <a:avLst/>
              <a:gdLst/>
              <a:ahLst/>
              <a:cxnLst/>
              <a:rect r="r" b="b" t="t" l="l"/>
              <a:pathLst>
                <a:path h="178445" w="1025148">
                  <a:moveTo>
                    <a:pt x="0" y="0"/>
                  </a:moveTo>
                  <a:lnTo>
                    <a:pt x="1025148" y="0"/>
                  </a:lnTo>
                  <a:lnTo>
                    <a:pt x="1025148" y="178445"/>
                  </a:lnTo>
                  <a:lnTo>
                    <a:pt x="0" y="178445"/>
                  </a:lnTo>
                  <a:close/>
                </a:path>
              </a:pathLst>
            </a:custGeom>
            <a:solidFill>
              <a:srgbClr val="00605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5147" cy="21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60576" y="4238310"/>
            <a:ext cx="2577940" cy="3437254"/>
          </a:xfrm>
          <a:custGeom>
            <a:avLst/>
            <a:gdLst/>
            <a:ahLst/>
            <a:cxnLst/>
            <a:rect r="r" b="b" t="t" l="l"/>
            <a:pathLst>
              <a:path h="3437254" w="2577940">
                <a:moveTo>
                  <a:pt x="0" y="0"/>
                </a:moveTo>
                <a:lnTo>
                  <a:pt x="2577940" y="0"/>
                </a:lnTo>
                <a:lnTo>
                  <a:pt x="2577940" y="3437254"/>
                </a:lnTo>
                <a:lnTo>
                  <a:pt x="0" y="343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525588" y="4238310"/>
            <a:ext cx="3004683" cy="3478268"/>
          </a:xfrm>
          <a:custGeom>
            <a:avLst/>
            <a:gdLst/>
            <a:ahLst/>
            <a:cxnLst/>
            <a:rect r="r" b="b" t="t" l="l"/>
            <a:pathLst>
              <a:path h="3478268" w="3004683">
                <a:moveTo>
                  <a:pt x="0" y="0"/>
                </a:moveTo>
                <a:lnTo>
                  <a:pt x="3004683" y="0"/>
                </a:lnTo>
                <a:lnTo>
                  <a:pt x="3004683" y="3478268"/>
                </a:lnTo>
                <a:lnTo>
                  <a:pt x="0" y="3478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742" t="-9455" r="-39977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802783" y="4502344"/>
            <a:ext cx="3128508" cy="3173220"/>
          </a:xfrm>
          <a:custGeom>
            <a:avLst/>
            <a:gdLst/>
            <a:ahLst/>
            <a:cxnLst/>
            <a:rect r="r" b="b" t="t" l="l"/>
            <a:pathLst>
              <a:path h="3173220" w="3128508">
                <a:moveTo>
                  <a:pt x="0" y="0"/>
                </a:moveTo>
                <a:lnTo>
                  <a:pt x="3128508" y="0"/>
                </a:lnTo>
                <a:lnTo>
                  <a:pt x="3128508" y="3173220"/>
                </a:lnTo>
                <a:lnTo>
                  <a:pt x="0" y="3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76" t="0" r="-38541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964217" y="4502344"/>
            <a:ext cx="3235132" cy="3173220"/>
          </a:xfrm>
          <a:custGeom>
            <a:avLst/>
            <a:gdLst/>
            <a:ahLst/>
            <a:cxnLst/>
            <a:rect r="r" b="b" t="t" l="l"/>
            <a:pathLst>
              <a:path h="3173220" w="3235132">
                <a:moveTo>
                  <a:pt x="0" y="0"/>
                </a:moveTo>
                <a:lnTo>
                  <a:pt x="3235132" y="0"/>
                </a:lnTo>
                <a:lnTo>
                  <a:pt x="3235132" y="3173220"/>
                </a:lnTo>
                <a:lnTo>
                  <a:pt x="0" y="317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749" t="0" r="-23749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351556">
            <a:off x="4625672" y="1347903"/>
            <a:ext cx="9058589" cy="145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TEAM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4568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EBECF1"/>
                </a:solidFill>
                <a:latin typeface="Poppins Bold"/>
                <a:ea typeface="Poppins Bold"/>
                <a:cs typeface="Poppins Bold"/>
                <a:sym typeface="Poppins Bold"/>
              </a:rPr>
              <a:t>PRIYA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02952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SANJANA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81336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VARUNA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64217" y="7833356"/>
            <a:ext cx="32499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b="true" sz="2300" spc="2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ASHRITHA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543773"/>
            <a:ext cx="18288000" cy="1743227"/>
            <a:chOff x="0" y="0"/>
            <a:chExt cx="4816593" cy="4591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59122"/>
            </a:xfrm>
            <a:custGeom>
              <a:avLst/>
              <a:gdLst/>
              <a:ahLst/>
              <a:cxnLst/>
              <a:rect r="r" b="b" t="t" l="l"/>
              <a:pathLst>
                <a:path h="45912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122"/>
                  </a:lnTo>
                  <a:lnTo>
                    <a:pt x="0" y="459122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497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-514350"/>
            <a:ext cx="1430398" cy="2261854"/>
            <a:chOff x="0" y="0"/>
            <a:chExt cx="376730" cy="595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6730" cy="595715"/>
            </a:xfrm>
            <a:custGeom>
              <a:avLst/>
              <a:gdLst/>
              <a:ahLst/>
              <a:cxnLst/>
              <a:rect r="r" b="b" t="t" l="l"/>
              <a:pathLst>
                <a:path h="595715" w="376730">
                  <a:moveTo>
                    <a:pt x="0" y="0"/>
                  </a:moveTo>
                  <a:lnTo>
                    <a:pt x="376730" y="0"/>
                  </a:lnTo>
                  <a:lnTo>
                    <a:pt x="376730" y="595715"/>
                  </a:lnTo>
                  <a:lnTo>
                    <a:pt x="0" y="595715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6730" cy="6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60565" y="2475345"/>
            <a:ext cx="3997065" cy="7185735"/>
          </a:xfrm>
          <a:custGeom>
            <a:avLst/>
            <a:gdLst/>
            <a:ahLst/>
            <a:cxnLst/>
            <a:rect r="r" b="b" t="t" l="l"/>
            <a:pathLst>
              <a:path h="7185735" w="3997065">
                <a:moveTo>
                  <a:pt x="0" y="0"/>
                </a:moveTo>
                <a:lnTo>
                  <a:pt x="3997065" y="0"/>
                </a:lnTo>
                <a:lnTo>
                  <a:pt x="3997065" y="7185735"/>
                </a:lnTo>
                <a:lnTo>
                  <a:pt x="0" y="7185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09573" y="1326555"/>
            <a:ext cx="11873579" cy="143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“In every coffee order lies data, understanding </a:t>
            </a:r>
          </a:p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customers means knowing when, how,</a:t>
            </a: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</a:p>
          <a:p>
            <a:pPr algn="ctr" marL="0" indent="0" lvl="0">
              <a:lnSpc>
                <a:spcPts val="3525"/>
              </a:lnSpc>
              <a:spcBef>
                <a:spcPct val="0"/>
              </a:spcBef>
            </a:pPr>
            <a:r>
              <a:rPr lang="en-US" sz="352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and why they choose their cup.”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09573" y="3115792"/>
            <a:ext cx="11873579" cy="50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Source : </a:t>
            </a:r>
            <a:r>
              <a:rPr lang="en-US" sz="2599" u="sng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  <a:hlinkClick r:id="rId6" tooltip="https://www.kaggle.com/datasets/likithagedipudi/starbucks-customer-ordering-patterns"/>
              </a:rPr>
              <a:t>Starbucks Customer Ordering Patterns</a:t>
            </a:r>
          </a:p>
          <a:p>
            <a:pPr algn="l">
              <a:lnSpc>
                <a:spcPts val="3639"/>
              </a:lnSpc>
            </a:pP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Key Insights from the Dataset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From this dataset, we aimed to uncover three critical aspects: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When customers order — pinpointing peak demand periods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How they order — exploring various channels and levels of      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 </a:t>
            </a: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customization</a:t>
            </a:r>
          </a:p>
          <a:p>
            <a:pPr algn="l" marL="561336" indent="-280668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Why they order — understanding the factors that influence satisfaction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 and spending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63113" y="1705955"/>
            <a:ext cx="4199755" cy="7107278"/>
          </a:xfrm>
          <a:custGeom>
            <a:avLst/>
            <a:gdLst/>
            <a:ahLst/>
            <a:cxnLst/>
            <a:rect r="r" b="b" t="t" l="l"/>
            <a:pathLst>
              <a:path h="7107278" w="4199755">
                <a:moveTo>
                  <a:pt x="0" y="0"/>
                </a:moveTo>
                <a:lnTo>
                  <a:pt x="4199756" y="0"/>
                </a:lnTo>
                <a:lnTo>
                  <a:pt x="4199756" y="7107279"/>
                </a:lnTo>
                <a:lnTo>
                  <a:pt x="0" y="710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10765" y="2312660"/>
            <a:ext cx="2081348" cy="1517492"/>
          </a:xfrm>
          <a:custGeom>
            <a:avLst/>
            <a:gdLst/>
            <a:ahLst/>
            <a:cxnLst/>
            <a:rect r="r" b="b" t="t" l="l"/>
            <a:pathLst>
              <a:path h="1517492" w="2081348">
                <a:moveTo>
                  <a:pt x="0" y="0"/>
                </a:moveTo>
                <a:lnTo>
                  <a:pt x="2081348" y="0"/>
                </a:lnTo>
                <a:lnTo>
                  <a:pt x="2081348" y="1517492"/>
                </a:lnTo>
                <a:lnTo>
                  <a:pt x="0" y="1517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95842" y="72009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686436">
            <a:off x="7484761" y="-148666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686436">
            <a:off x="17707501" y="702620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500" t="0" r="-1250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93602" y="6399547"/>
            <a:ext cx="11085917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This ER diagram maps the coffee journey (relationships)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ady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br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 up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some kn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ow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ledge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?</a:t>
            </a: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Let’s dive in!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8537" y="3973178"/>
            <a:ext cx="9116047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ER Diagram And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95842" y="72009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7484761" y="-148666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17707501" y="702620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78508" y="2606109"/>
            <a:ext cx="3994691" cy="5416531"/>
          </a:xfrm>
          <a:custGeom>
            <a:avLst/>
            <a:gdLst/>
            <a:ahLst/>
            <a:cxnLst/>
            <a:rect r="r" b="b" t="t" l="l"/>
            <a:pathLst>
              <a:path h="5416531" w="3994691">
                <a:moveTo>
                  <a:pt x="0" y="0"/>
                </a:moveTo>
                <a:lnTo>
                  <a:pt x="3994691" y="0"/>
                </a:lnTo>
                <a:lnTo>
                  <a:pt x="3994691" y="5416531"/>
                </a:lnTo>
                <a:lnTo>
                  <a:pt x="0" y="5416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93464" y="2606109"/>
            <a:ext cx="9428239" cy="5715870"/>
          </a:xfrm>
          <a:custGeom>
            <a:avLst/>
            <a:gdLst/>
            <a:ahLst/>
            <a:cxnLst/>
            <a:rect r="r" b="b" t="t" l="l"/>
            <a:pathLst>
              <a:path h="5715870" w="9428239">
                <a:moveTo>
                  <a:pt x="0" y="0"/>
                </a:moveTo>
                <a:lnTo>
                  <a:pt x="9428239" y="0"/>
                </a:lnTo>
                <a:lnTo>
                  <a:pt x="9428239" y="5715870"/>
                </a:lnTo>
                <a:lnTo>
                  <a:pt x="0" y="571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2919" y="775964"/>
            <a:ext cx="11551178" cy="69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41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ER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9309" y="2659264"/>
            <a:ext cx="7125576" cy="6011395"/>
          </a:xfrm>
          <a:custGeom>
            <a:avLst/>
            <a:gdLst/>
            <a:ahLst/>
            <a:cxnLst/>
            <a:rect r="r" b="b" t="t" l="l"/>
            <a:pathLst>
              <a:path h="6011395" w="7125576">
                <a:moveTo>
                  <a:pt x="0" y="0"/>
                </a:moveTo>
                <a:lnTo>
                  <a:pt x="7125576" y="0"/>
                </a:lnTo>
                <a:lnTo>
                  <a:pt x="7125576" y="6011395"/>
                </a:lnTo>
                <a:lnTo>
                  <a:pt x="0" y="6011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94215" y="2325377"/>
            <a:ext cx="8365085" cy="127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1"/>
              </a:lnSpc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Normalization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7274" y="7131538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Click Here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27540" y="4218347"/>
            <a:ext cx="8431760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“We start with a messy cup of data (1NF), separate the cups for clarity (2NF), 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and finally clean everything into a perfectly brewed coffee cup(3NF).”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9287" y="5436665"/>
            <a:ext cx="13789425" cy="246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OrderID (PK) | OrderDate | OrderTime | DaysOfWeek | OrderChannel |  OrderAhead | StoreID | CartSize | NoOfCustomizations | TotalSpend | FulfillmentTimeMin | DrinkCategory | HasFoodItem  | StoreLocationType | Region | CustomerID | CustomerAgeGroup | CustomerGender | IsRewardsMember | CustomerSatisfaction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6202" y="2569611"/>
            <a:ext cx="15495595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1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Ensure Atomic Values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9686436">
            <a:off x="-93568" y="833997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340380">
            <a:off x="13307035" y="845721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3"/>
                </a:lnTo>
                <a:lnTo>
                  <a:pt x="0" y="192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0643" y="2860239"/>
            <a:ext cx="15706713" cy="204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</a:t>
            </a:r>
            <a:r>
              <a:rPr lang="en-US" sz="727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7275"/>
              </a:lnSpc>
              <a:spcBef>
                <a:spcPct val="0"/>
              </a:spcBef>
            </a:pPr>
            <a:r>
              <a:rPr lang="en-US" sz="7275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Remove Partial Dependencies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9686436">
            <a:off x="-93568" y="8339979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340380">
            <a:off x="13307035" y="845721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3"/>
                </a:lnTo>
                <a:lnTo>
                  <a:pt x="0" y="1921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49287" y="5086350"/>
            <a:ext cx="13789425" cy="345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👤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Customer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=  CustomerID (PK) | CustomerAgeGroup | CustomerGender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IsRewardsMember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🏪 Store          =  StoreID (PK) | StoreLocationType | Region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📝 Order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=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OrderID (PK) | CustomerID (FK) | StoreID (FK) | OrderDate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OrderTime | DaysOfWeek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OrderChannel | CartSize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NoOfCustomizations | TotalSpend | FulfillmentTimeMin|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DrinkCategory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686436">
            <a:off x="14983322" y="77388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873889" y="990600"/>
            <a:ext cx="20035777" cy="230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3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NF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Remove Trans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itiv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 </a:t>
            </a:r>
          </a:p>
          <a:p>
            <a:pPr algn="ctr" marL="0" indent="0" lvl="0">
              <a:lnSpc>
                <a:spcPts val="8151"/>
              </a:lnSpc>
              <a:spcBef>
                <a:spcPct val="0"/>
              </a:spcBef>
            </a:pP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Dependen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i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es</a:t>
            </a:r>
            <a:r>
              <a:rPr lang="en-US" sz="81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9686436">
            <a:off x="-978996" y="803113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549663">
            <a:off x="15600061" y="4772451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340380">
            <a:off x="14178970" y="7190449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604135">
            <a:off x="16594542" y="3372274"/>
            <a:ext cx="1898978" cy="1921904"/>
          </a:xfrm>
          <a:custGeom>
            <a:avLst/>
            <a:gdLst/>
            <a:ahLst/>
            <a:cxnLst/>
            <a:rect r="r" b="b" t="t" l="l"/>
            <a:pathLst>
              <a:path h="1921904" w="1898978">
                <a:moveTo>
                  <a:pt x="0" y="0"/>
                </a:moveTo>
                <a:lnTo>
                  <a:pt x="1898978" y="0"/>
                </a:lnTo>
                <a:lnTo>
                  <a:pt x="1898978" y="1921904"/>
                </a:lnTo>
                <a:lnTo>
                  <a:pt x="0" y="1921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49287" y="4276076"/>
            <a:ext cx="13789425" cy="5434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👤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Customer = CustomerID (PK) | CustomerAgeGroup | CustomerGender |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IsRewardsMember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🏪 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Store      =  StoreID (PK) | StoreLocationType | Region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📝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Order      = OrderID (PK) | CustomerID (FK) | StoreID (FK) | ChannelID (FK)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OrderDate | OrderTime |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DayOfWeek |  OrderAhead |TotalSpend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FulfillmentTimeMin | CustomerSatisfaction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☕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Drink Lookup     =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DrinkID (PK) | DrinkName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📱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Channel Lookup = ChannelID (PK) | ChannelName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🛒</a:t>
            </a: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Cart Size             = OrderId (PK) (FK) | DrinkCategory (FK) | CartSize |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                                    NumberOfCustomization | HasFoodItem 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5842" y="16667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686436">
            <a:off x="-1183119" y="533203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22283" y="2106956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888657">
            <a:off x="15600061" y="5101796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99178" y="2100511"/>
            <a:ext cx="10683267" cy="7157789"/>
          </a:xfrm>
          <a:custGeom>
            <a:avLst/>
            <a:gdLst/>
            <a:ahLst/>
            <a:cxnLst/>
            <a:rect r="r" b="b" t="t" l="l"/>
            <a:pathLst>
              <a:path h="7157789" w="10683267">
                <a:moveTo>
                  <a:pt x="0" y="0"/>
                </a:moveTo>
                <a:lnTo>
                  <a:pt x="10683267" y="0"/>
                </a:lnTo>
                <a:lnTo>
                  <a:pt x="10683267" y="7157789"/>
                </a:lnTo>
                <a:lnTo>
                  <a:pt x="0" y="71577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39983" y="670467"/>
            <a:ext cx="4592828" cy="69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441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EER Diagram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8022" y="3307760"/>
            <a:ext cx="3069978" cy="7277964"/>
          </a:xfrm>
          <a:custGeom>
            <a:avLst/>
            <a:gdLst/>
            <a:ahLst/>
            <a:cxnLst/>
            <a:rect r="r" b="b" t="t" l="l"/>
            <a:pathLst>
              <a:path h="7277964" w="3069978">
                <a:moveTo>
                  <a:pt x="0" y="0"/>
                </a:moveTo>
                <a:lnTo>
                  <a:pt x="3069978" y="0"/>
                </a:lnTo>
                <a:lnTo>
                  <a:pt x="3069978" y="7277965"/>
                </a:lnTo>
                <a:lnTo>
                  <a:pt x="0" y="7277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165880" y="5794963"/>
            <a:ext cx="2990677" cy="5770602"/>
          </a:xfrm>
          <a:custGeom>
            <a:avLst/>
            <a:gdLst/>
            <a:ahLst/>
            <a:cxnLst/>
            <a:rect r="r" b="b" t="t" l="l"/>
            <a:pathLst>
              <a:path h="5770602" w="2990677">
                <a:moveTo>
                  <a:pt x="2990678" y="0"/>
                </a:moveTo>
                <a:lnTo>
                  <a:pt x="0" y="0"/>
                </a:lnTo>
                <a:lnTo>
                  <a:pt x="0" y="5770603"/>
                </a:lnTo>
                <a:lnTo>
                  <a:pt x="2990678" y="5770603"/>
                </a:lnTo>
                <a:lnTo>
                  <a:pt x="299067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18589" y="8049150"/>
            <a:ext cx="3881018" cy="3927871"/>
          </a:xfrm>
          <a:custGeom>
            <a:avLst/>
            <a:gdLst/>
            <a:ahLst/>
            <a:cxnLst/>
            <a:rect r="r" b="b" t="t" l="l"/>
            <a:pathLst>
              <a:path h="3927871" w="3881018">
                <a:moveTo>
                  <a:pt x="0" y="0"/>
                </a:moveTo>
                <a:lnTo>
                  <a:pt x="3881018" y="0"/>
                </a:lnTo>
                <a:lnTo>
                  <a:pt x="3881018" y="3927872"/>
                </a:lnTo>
                <a:lnTo>
                  <a:pt x="0" y="39278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8948">
            <a:off x="7223565" y="-222143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500" t="0" r="-1250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7009462"/>
            <a:ext cx="2977067" cy="3341605"/>
          </a:xfrm>
          <a:custGeom>
            <a:avLst/>
            <a:gdLst/>
            <a:ahLst/>
            <a:cxnLst/>
            <a:rect r="r" b="b" t="t" l="l"/>
            <a:pathLst>
              <a:path h="3341605" w="2977067">
                <a:moveTo>
                  <a:pt x="0" y="0"/>
                </a:moveTo>
                <a:lnTo>
                  <a:pt x="2977067" y="0"/>
                </a:lnTo>
                <a:lnTo>
                  <a:pt x="2977067" y="3341605"/>
                </a:lnTo>
                <a:lnTo>
                  <a:pt x="0" y="33416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55384" y="2666873"/>
            <a:ext cx="10454839" cy="353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80"/>
              </a:lnSpc>
              <a:spcBef>
                <a:spcPct val="0"/>
              </a:spcBef>
            </a:pPr>
            <a:r>
              <a:rPr lang="en-US" sz="5380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“Just like brewing coffee, SQL requires precision; the right grind, timing, and flow yield the perfect insight.”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514350"/>
            <a:ext cx="1430398" cy="2261854"/>
            <a:chOff x="0" y="0"/>
            <a:chExt cx="376730" cy="595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730" cy="595715"/>
            </a:xfrm>
            <a:custGeom>
              <a:avLst/>
              <a:gdLst/>
              <a:ahLst/>
              <a:cxnLst/>
              <a:rect r="r" b="b" t="t" l="l"/>
              <a:pathLst>
                <a:path h="595715" w="376730">
                  <a:moveTo>
                    <a:pt x="0" y="0"/>
                  </a:moveTo>
                  <a:lnTo>
                    <a:pt x="376730" y="0"/>
                  </a:lnTo>
                  <a:lnTo>
                    <a:pt x="376730" y="595715"/>
                  </a:lnTo>
                  <a:lnTo>
                    <a:pt x="0" y="595715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6730" cy="63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08385" y="5530299"/>
            <a:ext cx="5773705" cy="2919262"/>
            <a:chOff x="0" y="0"/>
            <a:chExt cx="1520647" cy="7688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0647" cy="768859"/>
            </a:xfrm>
            <a:custGeom>
              <a:avLst/>
              <a:gdLst/>
              <a:ahLst/>
              <a:cxnLst/>
              <a:rect r="r" b="b" t="t" l="l"/>
              <a:pathLst>
                <a:path h="768859" w="1520647">
                  <a:moveTo>
                    <a:pt x="0" y="0"/>
                  </a:moveTo>
                  <a:lnTo>
                    <a:pt x="1520647" y="0"/>
                  </a:lnTo>
                  <a:lnTo>
                    <a:pt x="1520647" y="768859"/>
                  </a:lnTo>
                  <a:lnTo>
                    <a:pt x="0" y="768859"/>
                  </a:lnTo>
                  <a:close/>
                </a:path>
              </a:pathLst>
            </a:custGeom>
            <a:solidFill>
              <a:srgbClr val="3869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0647" cy="80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219309" y="4086249"/>
            <a:ext cx="3371728" cy="2658046"/>
          </a:xfrm>
          <a:custGeom>
            <a:avLst/>
            <a:gdLst/>
            <a:ahLst/>
            <a:cxnLst/>
            <a:rect r="r" b="b" t="t" l="l"/>
            <a:pathLst>
              <a:path h="2658046" w="3371728">
                <a:moveTo>
                  <a:pt x="3371729" y="0"/>
                </a:moveTo>
                <a:lnTo>
                  <a:pt x="0" y="0"/>
                </a:lnTo>
                <a:lnTo>
                  <a:pt x="0" y="2658046"/>
                </a:lnTo>
                <a:lnTo>
                  <a:pt x="3371729" y="2658046"/>
                </a:lnTo>
                <a:lnTo>
                  <a:pt x="337172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8805625">
            <a:off x="-2225496" y="1843965"/>
            <a:ext cx="3063397" cy="3100380"/>
          </a:xfrm>
          <a:custGeom>
            <a:avLst/>
            <a:gdLst/>
            <a:ahLst/>
            <a:cxnLst/>
            <a:rect r="r" b="b" t="t" l="l"/>
            <a:pathLst>
              <a:path h="3100380" w="3063397">
                <a:moveTo>
                  <a:pt x="0" y="0"/>
                </a:moveTo>
                <a:lnTo>
                  <a:pt x="3063397" y="0"/>
                </a:lnTo>
                <a:lnTo>
                  <a:pt x="3063397" y="3100380"/>
                </a:lnTo>
                <a:lnTo>
                  <a:pt x="0" y="3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807478">
            <a:off x="11769999" y="8953433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36611" y="2163704"/>
            <a:ext cx="11218090" cy="261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249"/>
              </a:lnSpc>
              <a:spcBef>
                <a:spcPct val="0"/>
              </a:spcBef>
            </a:pPr>
            <a:r>
              <a:rPr lang="en-US" sz="374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Identify the years present in the dataset, find the top-selling month within each year, calculate the average customer spend for that month, and determine the most preferred drink category.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236611" y="5641194"/>
            <a:ext cx="11218090" cy="2206204"/>
          </a:xfrm>
          <a:custGeom>
            <a:avLst/>
            <a:gdLst/>
            <a:ahLst/>
            <a:cxnLst/>
            <a:rect r="r" b="b" t="t" l="l"/>
            <a:pathLst>
              <a:path h="2206204" w="11218090">
                <a:moveTo>
                  <a:pt x="0" y="0"/>
                </a:moveTo>
                <a:lnTo>
                  <a:pt x="11218090" y="0"/>
                </a:lnTo>
                <a:lnTo>
                  <a:pt x="11218090" y="2206203"/>
                </a:lnTo>
                <a:lnTo>
                  <a:pt x="0" y="22062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4" t="-11320" r="0" b="-1122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00" t="0" r="-1250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8489" y="348475"/>
            <a:ext cx="16230600" cy="75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5"/>
              </a:lnSpc>
              <a:spcBef>
                <a:spcPct val="0"/>
              </a:spcBef>
            </a:pPr>
            <a:r>
              <a:rPr lang="en-US" sz="21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Identify the years present in the dataset, find the top-selling month within each year, calculate the average customer spend for that month, and determine the most preferred drink category.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87936" y="4144063"/>
            <a:ext cx="2934814" cy="2854107"/>
          </a:xfrm>
          <a:custGeom>
            <a:avLst/>
            <a:gdLst/>
            <a:ahLst/>
            <a:cxnLst/>
            <a:rect r="r" b="b" t="t" l="l"/>
            <a:pathLst>
              <a:path h="2854107" w="2934814">
                <a:moveTo>
                  <a:pt x="0" y="0"/>
                </a:moveTo>
                <a:lnTo>
                  <a:pt x="2934815" y="0"/>
                </a:lnTo>
                <a:lnTo>
                  <a:pt x="2934815" y="2854107"/>
                </a:lnTo>
                <a:lnTo>
                  <a:pt x="0" y="2854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24290" y="4144063"/>
            <a:ext cx="1954742" cy="2854107"/>
          </a:xfrm>
          <a:custGeom>
            <a:avLst/>
            <a:gdLst/>
            <a:ahLst/>
            <a:cxnLst/>
            <a:rect r="r" b="b" t="t" l="l"/>
            <a:pathLst>
              <a:path h="2854107" w="1954742">
                <a:moveTo>
                  <a:pt x="0" y="0"/>
                </a:moveTo>
                <a:lnTo>
                  <a:pt x="1954742" y="0"/>
                </a:lnTo>
                <a:lnTo>
                  <a:pt x="1954742" y="2854107"/>
                </a:lnTo>
                <a:lnTo>
                  <a:pt x="0" y="28541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58815" y="1545926"/>
            <a:ext cx="2393057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5132" y="1545926"/>
            <a:ext cx="2393057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2024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87452" y="2735953"/>
            <a:ext cx="2135783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July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0917" y="2735953"/>
            <a:ext cx="4281488" cy="12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51"/>
              </a:lnSpc>
              <a:spcBef>
                <a:spcPct val="0"/>
              </a:spcBef>
            </a:pPr>
            <a:r>
              <a:rPr lang="en-US" sz="7851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October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20385" y="7198195"/>
            <a:ext cx="596255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Most Loved Drink: Expresso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Total Sales: $64027.13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Avg Customer Spend: $15.05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6272" y="7198195"/>
            <a:ext cx="593814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Most Loved Drink: Tea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Total Sales: $64933.88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7D5427"/>
                </a:solidFill>
                <a:latin typeface="Canva Sans"/>
                <a:ea typeface="Canva Sans"/>
                <a:cs typeface="Canva Sans"/>
                <a:sym typeface="Canva Sans"/>
              </a:rPr>
              <a:t>Avg Customer Spend: $14.92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5625">
            <a:off x="-2225496" y="1843965"/>
            <a:ext cx="3063397" cy="3100380"/>
          </a:xfrm>
          <a:custGeom>
            <a:avLst/>
            <a:gdLst/>
            <a:ahLst/>
            <a:cxnLst/>
            <a:rect r="r" b="b" t="t" l="l"/>
            <a:pathLst>
              <a:path h="3100380" w="3063397">
                <a:moveTo>
                  <a:pt x="0" y="0"/>
                </a:moveTo>
                <a:lnTo>
                  <a:pt x="3063397" y="0"/>
                </a:lnTo>
                <a:lnTo>
                  <a:pt x="3063397" y="3100380"/>
                </a:lnTo>
                <a:lnTo>
                  <a:pt x="0" y="3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07098" y="8449560"/>
            <a:ext cx="10473803" cy="1544095"/>
          </a:xfrm>
          <a:custGeom>
            <a:avLst/>
            <a:gdLst/>
            <a:ahLst/>
            <a:cxnLst/>
            <a:rect r="r" b="b" t="t" l="l"/>
            <a:pathLst>
              <a:path h="1544095" w="10473803">
                <a:moveTo>
                  <a:pt x="0" y="0"/>
                </a:moveTo>
                <a:lnTo>
                  <a:pt x="10473804" y="0"/>
                </a:lnTo>
                <a:lnTo>
                  <a:pt x="10473804" y="1544096"/>
                </a:lnTo>
                <a:lnTo>
                  <a:pt x="0" y="1544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58286" y="1705955"/>
            <a:ext cx="9571429" cy="6543095"/>
          </a:xfrm>
          <a:custGeom>
            <a:avLst/>
            <a:gdLst/>
            <a:ahLst/>
            <a:cxnLst/>
            <a:rect r="r" b="b" t="t" l="l"/>
            <a:pathLst>
              <a:path h="6543095" w="9571429">
                <a:moveTo>
                  <a:pt x="0" y="0"/>
                </a:moveTo>
                <a:lnTo>
                  <a:pt x="9571428" y="0"/>
                </a:lnTo>
                <a:lnTo>
                  <a:pt x="9571428" y="6543095"/>
                </a:lnTo>
                <a:lnTo>
                  <a:pt x="0" y="65430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02" t="0" r="-130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79227" y="7301934"/>
            <a:ext cx="1663392" cy="1287195"/>
          </a:xfrm>
          <a:custGeom>
            <a:avLst/>
            <a:gdLst/>
            <a:ahLst/>
            <a:cxnLst/>
            <a:rect r="r" b="b" t="t" l="l"/>
            <a:pathLst>
              <a:path h="1287195" w="1663392">
                <a:moveTo>
                  <a:pt x="0" y="0"/>
                </a:moveTo>
                <a:lnTo>
                  <a:pt x="1663392" y="0"/>
                </a:lnTo>
                <a:lnTo>
                  <a:pt x="1663392" y="1287195"/>
                </a:lnTo>
                <a:lnTo>
                  <a:pt x="0" y="12871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118759">
            <a:off x="1934398" y="62662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118759">
            <a:off x="13388927" y="619249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39700" y="7301934"/>
            <a:ext cx="1908466" cy="1234716"/>
          </a:xfrm>
          <a:custGeom>
            <a:avLst/>
            <a:gdLst/>
            <a:ahLst/>
            <a:cxnLst/>
            <a:rect r="r" b="b" t="t" l="l"/>
            <a:pathLst>
              <a:path h="1234716" w="1908466">
                <a:moveTo>
                  <a:pt x="0" y="0"/>
                </a:moveTo>
                <a:lnTo>
                  <a:pt x="1908466" y="0"/>
                </a:lnTo>
                <a:lnTo>
                  <a:pt x="1908466" y="1234716"/>
                </a:lnTo>
                <a:lnTo>
                  <a:pt x="0" y="12347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93637" y="397220"/>
            <a:ext cx="1110072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How do order behavior factors including order size, number of customizations, and order channel influence a customer’s likelihood of becoming a Starbucks Rewards member, and how does this relate to the Digital Venti Effect?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595842" y="1666700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15362040" y="7683943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40"/>
                </a:lnTo>
                <a:lnTo>
                  <a:pt x="0" y="3358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0544" y="8225160"/>
            <a:ext cx="1985703" cy="2076305"/>
          </a:xfrm>
          <a:custGeom>
            <a:avLst/>
            <a:gdLst/>
            <a:ahLst/>
            <a:cxnLst/>
            <a:rect r="r" b="b" t="t" l="l"/>
            <a:pathLst>
              <a:path h="2076305" w="1985703">
                <a:moveTo>
                  <a:pt x="0" y="0"/>
                </a:moveTo>
                <a:lnTo>
                  <a:pt x="1985703" y="0"/>
                </a:lnTo>
                <a:lnTo>
                  <a:pt x="1985703" y="2076305"/>
                </a:lnTo>
                <a:lnTo>
                  <a:pt x="0" y="2076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69875" y="6703366"/>
            <a:ext cx="6533061" cy="2221241"/>
          </a:xfrm>
          <a:custGeom>
            <a:avLst/>
            <a:gdLst/>
            <a:ahLst/>
            <a:cxnLst/>
            <a:rect r="r" b="b" t="t" l="l"/>
            <a:pathLst>
              <a:path h="2221241" w="6533061">
                <a:moveTo>
                  <a:pt x="0" y="0"/>
                </a:moveTo>
                <a:lnTo>
                  <a:pt x="6533061" y="0"/>
                </a:lnTo>
                <a:lnTo>
                  <a:pt x="6533061" y="2221240"/>
                </a:lnTo>
                <a:lnTo>
                  <a:pt x="0" y="22212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62604" y="1916520"/>
            <a:ext cx="6528994" cy="6308640"/>
          </a:xfrm>
          <a:custGeom>
            <a:avLst/>
            <a:gdLst/>
            <a:ahLst/>
            <a:cxnLst/>
            <a:rect r="r" b="b" t="t" l="l"/>
            <a:pathLst>
              <a:path h="6308640" w="6528994">
                <a:moveTo>
                  <a:pt x="0" y="0"/>
                </a:moveTo>
                <a:lnTo>
                  <a:pt x="6528993" y="0"/>
                </a:lnTo>
                <a:lnTo>
                  <a:pt x="6528993" y="6308640"/>
                </a:lnTo>
                <a:lnTo>
                  <a:pt x="0" y="630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68489" y="2807015"/>
            <a:ext cx="8852331" cy="3441344"/>
          </a:xfrm>
          <a:custGeom>
            <a:avLst/>
            <a:gdLst/>
            <a:ahLst/>
            <a:cxnLst/>
            <a:rect r="r" b="b" t="t" l="l"/>
            <a:pathLst>
              <a:path h="3441344" w="8852331">
                <a:moveTo>
                  <a:pt x="0" y="0"/>
                </a:moveTo>
                <a:lnTo>
                  <a:pt x="8852330" y="0"/>
                </a:lnTo>
                <a:lnTo>
                  <a:pt x="8852330" y="3441344"/>
                </a:lnTo>
                <a:lnTo>
                  <a:pt x="0" y="3441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84851" y="360294"/>
            <a:ext cx="1312202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Que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y O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b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j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c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iv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e: Identify Starbucks channels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here wait times and satisfaction scores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both underperform in order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 to p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io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r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it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iz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 operational 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f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x</a:t>
            </a:r>
            <a:r>
              <a:rPr lang="en-US" sz="2099" strike="noStrike" u="none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1602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7274" y="7131538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Click Here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106005"/>
            <a:ext cx="9611619" cy="7257070"/>
          </a:xfrm>
          <a:custGeom>
            <a:avLst/>
            <a:gdLst/>
            <a:ahLst/>
            <a:cxnLst/>
            <a:rect r="r" b="b" t="t" l="l"/>
            <a:pathLst>
              <a:path h="7257070" w="9611619">
                <a:moveTo>
                  <a:pt x="0" y="0"/>
                </a:moveTo>
                <a:lnTo>
                  <a:pt x="9611619" y="0"/>
                </a:lnTo>
                <a:lnTo>
                  <a:pt x="9611619" y="7257070"/>
                </a:lnTo>
                <a:lnTo>
                  <a:pt x="0" y="7257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62" t="0" r="-666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36002" y="4946888"/>
            <a:ext cx="5923298" cy="4416187"/>
          </a:xfrm>
          <a:custGeom>
            <a:avLst/>
            <a:gdLst/>
            <a:ahLst/>
            <a:cxnLst/>
            <a:rect r="r" b="b" t="t" l="l"/>
            <a:pathLst>
              <a:path h="4416187" w="5923298">
                <a:moveTo>
                  <a:pt x="0" y="0"/>
                </a:moveTo>
                <a:lnTo>
                  <a:pt x="5923298" y="0"/>
                </a:lnTo>
                <a:lnTo>
                  <a:pt x="5923298" y="4416187"/>
                </a:lnTo>
                <a:lnTo>
                  <a:pt x="0" y="4416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36002" y="1917716"/>
            <a:ext cx="5881734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Whether we like to admit it or not, Starbucks is one of the most recognizable coffee brands on the planet-- Everywhere you go, you can almost always count on there being a Starbucks.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Which region of the world has the strongest demand and where are the most orders being placed?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2977" y="916266"/>
            <a:ext cx="14576323" cy="6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4128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From Beans to Behavior: Understanding Demand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00" t="0" r="-1250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6493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26442" y="7172872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6" y="0"/>
                </a:lnTo>
                <a:lnTo>
                  <a:pt x="40657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86436">
            <a:off x="4944993" y="-686062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7" y="0"/>
                </a:lnTo>
                <a:lnTo>
                  <a:pt x="3318477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9803" y="1632956"/>
            <a:ext cx="11850946" cy="7895693"/>
          </a:xfrm>
          <a:custGeom>
            <a:avLst/>
            <a:gdLst/>
            <a:ahLst/>
            <a:cxnLst/>
            <a:rect r="r" b="b" t="t" l="l"/>
            <a:pathLst>
              <a:path h="7895693" w="11850946">
                <a:moveTo>
                  <a:pt x="0" y="0"/>
                </a:moveTo>
                <a:lnTo>
                  <a:pt x="11850947" y="0"/>
                </a:lnTo>
                <a:lnTo>
                  <a:pt x="11850947" y="7895693"/>
                </a:lnTo>
                <a:lnTo>
                  <a:pt x="0" y="7895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74171" y="1893183"/>
            <a:ext cx="3985129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difference between the highest and lowest regions suggests that customer behavior varies significantly by location, which could be influenced by factors like population, store density, or regional preferences.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74171" y="6539598"/>
            <a:ext cx="398512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West region generates the highest number of orders, indicating it is the most active market, while the Northeast has the lowest activity.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9829" y="651192"/>
            <a:ext cx="7108343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What does this mean?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653" y="1791680"/>
            <a:ext cx="10712328" cy="7466620"/>
          </a:xfrm>
          <a:custGeom>
            <a:avLst/>
            <a:gdLst/>
            <a:ahLst/>
            <a:cxnLst/>
            <a:rect r="r" b="b" t="t" l="l"/>
            <a:pathLst>
              <a:path h="7466620" w="10712328">
                <a:moveTo>
                  <a:pt x="0" y="0"/>
                </a:moveTo>
                <a:lnTo>
                  <a:pt x="10712328" y="0"/>
                </a:lnTo>
                <a:lnTo>
                  <a:pt x="10712328" y="7466620"/>
                </a:lnTo>
                <a:lnTo>
                  <a:pt x="0" y="7466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04" t="-3434" r="-410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12844" y="1443251"/>
            <a:ext cx="6244299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Everyone loves coffee, but different age groups often have different spending habits, preferences, and levels of engagement.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12844" y="4005321"/>
            <a:ext cx="6244299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Wh</a:t>
            </a:r>
            <a:r>
              <a:rPr lang="en-US" sz="2499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ich age groups contribute the most value, and what does that reveal about differences in customer behavior?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612844" y="6965963"/>
            <a:ext cx="6244299" cy="1566751"/>
          </a:xfrm>
          <a:custGeom>
            <a:avLst/>
            <a:gdLst/>
            <a:ahLst/>
            <a:cxnLst/>
            <a:rect r="r" b="b" t="t" l="l"/>
            <a:pathLst>
              <a:path h="1566751" w="6244299">
                <a:moveTo>
                  <a:pt x="0" y="0"/>
                </a:moveTo>
                <a:lnTo>
                  <a:pt x="6244299" y="0"/>
                </a:lnTo>
                <a:lnTo>
                  <a:pt x="6244299" y="1566752"/>
                </a:lnTo>
                <a:lnTo>
                  <a:pt x="0" y="1566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0491" y="274936"/>
            <a:ext cx="7978632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Grounds for Connection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4106" y="1940808"/>
            <a:ext cx="10983103" cy="7317492"/>
          </a:xfrm>
          <a:custGeom>
            <a:avLst/>
            <a:gdLst/>
            <a:ahLst/>
            <a:cxnLst/>
            <a:rect r="r" b="b" t="t" l="l"/>
            <a:pathLst>
              <a:path h="7317492" w="10983103">
                <a:moveTo>
                  <a:pt x="0" y="0"/>
                </a:moveTo>
                <a:lnTo>
                  <a:pt x="10983103" y="0"/>
                </a:lnTo>
                <a:lnTo>
                  <a:pt x="10983103" y="7317492"/>
                </a:lnTo>
                <a:lnTo>
                  <a:pt x="0" y="7317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51322" y="531570"/>
            <a:ext cx="7108343" cy="7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600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What does this mean?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171" y="2629324"/>
            <a:ext cx="515573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 18–24 age group is not just spending the most — they represent a high-value, behaviorally important customer segment that is likely driving trends, product popularity, and repeat purchases.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98171" y="6118311"/>
            <a:ext cx="515573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7D5427"/>
                </a:solidFill>
                <a:latin typeface="Moul"/>
                <a:ea typeface="Moul"/>
                <a:cs typeface="Moul"/>
                <a:sym typeface="Moul"/>
              </a:rPr>
              <a:t>Their higher average spending suggests they are more engaged with Starbucks offerings, potentially purchasing premium, customized, or multiple items per visit.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4" y="0"/>
                </a:lnTo>
                <a:lnTo>
                  <a:pt x="1364764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00" t="0" r="-1250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6830" y="3964654"/>
            <a:ext cx="2635319" cy="2667134"/>
          </a:xfrm>
          <a:custGeom>
            <a:avLst/>
            <a:gdLst/>
            <a:ahLst/>
            <a:cxnLst/>
            <a:rect r="r" b="b" t="t" l="l"/>
            <a:pathLst>
              <a:path h="2667134" w="2635319">
                <a:moveTo>
                  <a:pt x="0" y="0"/>
                </a:moveTo>
                <a:lnTo>
                  <a:pt x="2635319" y="0"/>
                </a:lnTo>
                <a:lnTo>
                  <a:pt x="2635319" y="2667134"/>
                </a:lnTo>
                <a:lnTo>
                  <a:pt x="0" y="2667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500" t="0" r="-125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07262" y="364630"/>
            <a:ext cx="8902798" cy="4618327"/>
          </a:xfrm>
          <a:custGeom>
            <a:avLst/>
            <a:gdLst/>
            <a:ahLst/>
            <a:cxnLst/>
            <a:rect r="r" b="b" t="t" l="l"/>
            <a:pathLst>
              <a:path h="4618327" w="8902798">
                <a:moveTo>
                  <a:pt x="0" y="0"/>
                </a:moveTo>
                <a:lnTo>
                  <a:pt x="8902798" y="0"/>
                </a:lnTo>
                <a:lnTo>
                  <a:pt x="8902798" y="4618327"/>
                </a:lnTo>
                <a:lnTo>
                  <a:pt x="0" y="4618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40030" y="5298221"/>
            <a:ext cx="7007941" cy="3451411"/>
          </a:xfrm>
          <a:custGeom>
            <a:avLst/>
            <a:gdLst/>
            <a:ahLst/>
            <a:cxnLst/>
            <a:rect r="r" b="b" t="t" l="l"/>
            <a:pathLst>
              <a:path h="3451411" w="7007941">
                <a:moveTo>
                  <a:pt x="0" y="0"/>
                </a:moveTo>
                <a:lnTo>
                  <a:pt x="7007940" y="0"/>
                </a:lnTo>
                <a:lnTo>
                  <a:pt x="7007940" y="3451411"/>
                </a:lnTo>
                <a:lnTo>
                  <a:pt x="0" y="3451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2427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29590" y="9636922"/>
            <a:ext cx="4462462" cy="31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  <a:spcBef>
                <a:spcPct val="0"/>
              </a:spcBef>
            </a:pPr>
            <a:r>
              <a:rPr lang="en-US" sz="1789" u="sng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  <a:hlinkClick r:id="rId7" tooltip="https://github.com/priyanitinnair/Data-201-Group-Project"/>
              </a:rPr>
              <a:t>priyanitinnair/Data-201-Group-Project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016" y="303511"/>
            <a:ext cx="613765" cy="871282"/>
          </a:xfrm>
          <a:custGeom>
            <a:avLst/>
            <a:gdLst/>
            <a:ahLst/>
            <a:cxnLst/>
            <a:rect r="r" b="b" t="t" l="l"/>
            <a:pathLst>
              <a:path h="871282" w="613765">
                <a:moveTo>
                  <a:pt x="0" y="0"/>
                </a:moveTo>
                <a:lnTo>
                  <a:pt x="613765" y="0"/>
                </a:lnTo>
                <a:lnTo>
                  <a:pt x="613765" y="871281"/>
                </a:lnTo>
                <a:lnTo>
                  <a:pt x="0" y="8712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661691"/>
            <a:ext cx="4065717" cy="4114800"/>
          </a:xfrm>
          <a:custGeom>
            <a:avLst/>
            <a:gdLst/>
            <a:ahLst/>
            <a:cxnLst/>
            <a:rect r="r" b="b" t="t" l="l"/>
            <a:pathLst>
              <a:path h="4114800" w="4065717">
                <a:moveTo>
                  <a:pt x="0" y="0"/>
                </a:moveTo>
                <a:lnTo>
                  <a:pt x="4065717" y="0"/>
                </a:lnTo>
                <a:lnTo>
                  <a:pt x="4065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18759">
            <a:off x="16134505" y="-504477"/>
            <a:ext cx="3318477" cy="3358539"/>
          </a:xfrm>
          <a:custGeom>
            <a:avLst/>
            <a:gdLst/>
            <a:ahLst/>
            <a:cxnLst/>
            <a:rect r="r" b="b" t="t" l="l"/>
            <a:pathLst>
              <a:path h="3358539" w="3318477">
                <a:moveTo>
                  <a:pt x="0" y="0"/>
                </a:moveTo>
                <a:lnTo>
                  <a:pt x="3318478" y="0"/>
                </a:lnTo>
                <a:lnTo>
                  <a:pt x="3318478" y="3358539"/>
                </a:lnTo>
                <a:lnTo>
                  <a:pt x="0" y="3358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9309" y="1219911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Borcelle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747" y="7625476"/>
            <a:ext cx="2086122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DFBF5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Next Slide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4634" y="0"/>
            <a:ext cx="1364764" cy="1705955"/>
          </a:xfrm>
          <a:custGeom>
            <a:avLst/>
            <a:gdLst/>
            <a:ahLst/>
            <a:cxnLst/>
            <a:rect r="r" b="b" t="t" l="l"/>
            <a:pathLst>
              <a:path h="1705955" w="1364764">
                <a:moveTo>
                  <a:pt x="0" y="0"/>
                </a:moveTo>
                <a:lnTo>
                  <a:pt x="1364765" y="0"/>
                </a:lnTo>
                <a:lnTo>
                  <a:pt x="1364765" y="1705955"/>
                </a:lnTo>
                <a:lnTo>
                  <a:pt x="0" y="17059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0" r="-1250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2427" y="1325408"/>
            <a:ext cx="1049179" cy="24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1389">
                <a:solidFill>
                  <a:srgbClr val="FAF8ED"/>
                </a:solidFill>
                <a:latin typeface="Yeseva One"/>
                <a:ea typeface="Yeseva One"/>
                <a:cs typeface="Yeseva One"/>
                <a:sym typeface="Yeseva One"/>
              </a:rPr>
              <a:t>Starbucks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2251" y="4283962"/>
            <a:ext cx="7823498" cy="16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80"/>
              </a:lnSpc>
              <a:spcBef>
                <a:spcPct val="0"/>
              </a:spcBef>
            </a:pPr>
            <a:r>
              <a:rPr lang="en-US" sz="10680" strike="noStrike" u="none">
                <a:solidFill>
                  <a:srgbClr val="38695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DAHEOZCut8Y</dc:identifier>
  <dcterms:modified xsi:type="dcterms:W3CDTF">2011-08-01T06:04:30Z</dcterms:modified>
  <cp:revision>1</cp:revision>
  <dc:title>Welcome to Starbucks</dc:title>
</cp:coreProperties>
</file>